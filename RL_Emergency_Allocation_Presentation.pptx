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present our project on dynamic emergency resource allocation using Deep Reinforcement Learning, evaluated on real-world EMS dispatch data from New York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slide, we contrast standard static nearest-hospital dispatching against our dynamic Deep Reinforcement Learning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/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Dynamic Emergency Resource Allocation via Deep Reinforcement Learning</a:t>
            </a:r>
          </a:p>
          <a:p>
            <a:pPr>
              <a:spcBef>
                <a:spcPts val="1000"/>
              </a:spcBef>
              <a:defRPr sz="1800">
                <a:solidFill>
                  <a:srgbClr val="0E7490"/>
                </a:solidFill>
              </a:defRPr>
            </a:pPr>
            <a:r>
              <a:t>A Data-Driven Framework for Urban Emergency Medical Services Dispatching</a:t>
            </a:r>
          </a:p>
          <a:p>
            <a:br/>
            <a:pPr>
              <a:defRPr sz="1400" b="1">
                <a:solidFill>
                  <a:srgbClr val="1E293B"/>
                </a:solidFill>
              </a:defRPr>
            </a:pPr>
            <a:r>
              <a:t>Presenters: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1. Parimisetty Sneha Deepika (Roll No: AV.SC.U4AIE23034)</a:t>
            </a:r>
            <a:br/>
            <a:r>
              <a:t>2. Nakka Keerthi (Roll No: AV.SC.U4AIE23032)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Institution: Amrita Vishwa Vidyapeetham</a:t>
            </a:r>
            <a:br/>
            <a:r>
              <a:t>Course: Reinforcement Learning</a:t>
            </a:r>
            <a:br/>
            <a:r>
              <a:t>Dataset: NYC EMS Dispatch Data (274,964 Records)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1. Executive Summary &amp; Operational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Operational Challenges in Urban EMS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High Call Volume: NYC EMS handles ~300,000 emergency calls per quarter across 229 ZIP codes.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Static Dispatch Pitfall: Ambulances default to the physically nearest hospital.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Localized Overcrowding: Multiple emergencies near one area bottleneck a single emergency department (ED).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Ambulance Wall-Time: Waiting for bed availability keeps ambulance units off the road.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Our Dynamic DRL Solution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Data-Driven Gym Environment: Built on 274,964 clean NYC dispatch records.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Real Road Routing: OpenStreetMap (OSM) Dijkstra shortest path graph + Haversine circuity.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Dynamic Patient Queues: Models hospital stay durations and bed discharge cycles by severity.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Deep Q-Network (DQN): Optimizes multi-attribute reward balancing travel speed and bed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2. Research Problem &amp; 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400">
                <a:solidFill>
                  <a:srgbClr val="0E7490"/>
                </a:solidFill>
              </a:defRPr>
            </a:pPr>
            <a:r>
              <a:t>Core Research Question:</a:t>
            </a:r>
          </a:p>
          <a:p>
            <a:pPr>
              <a:spcBef>
                <a:spcPts val="400"/>
              </a:spcBef>
              <a:defRPr sz="1500" i="1">
                <a:solidFill>
                  <a:srgbClr val="003366"/>
                </a:solidFill>
              </a:defRPr>
            </a:pPr>
            <a:r>
              <a:t>“Can a Deep Q-Network (DQN) policy dynamically allocate EMS demand across geographically distributed hospitals more effectively than standard proximity rules, balancing transport speed with hospital bed availability?”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08960"/>
            <a:ext cx="3413455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b="1" sz="1500">
                <a:solidFill>
                  <a:srgbClr val="003366"/>
                </a:solidFill>
              </a:defRPr>
            </a:pPr>
            <a:r>
              <a:t>Objective 1: Spatial-Temporal Simulation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Build an empirical Gymnasium environment using 274k real NYC incidents, road distances, and hospital capacities.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3108960"/>
            <a:ext cx="3413455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b="1" sz="1500">
                <a:solidFill>
                  <a:srgbClr val="003366"/>
                </a:solidFill>
              </a:defRPr>
            </a:pPr>
            <a:r>
              <a:t>Objective 2: Dual-Objective Optimization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Formulate a reward function that balances patient transport time against hospital occupancy and criticality penalties.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108960"/>
            <a:ext cx="3413455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b="1" sz="1500">
                <a:solidFill>
                  <a:srgbClr val="003366"/>
                </a:solidFill>
              </a:defRPr>
            </a:pPr>
            <a:r>
              <a:t>Objective 3: Rigorous Benchmarking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Evaluate DQN against 4 baseline strategies across normal, critical, load-fairness, multi-seed, and stress scenarios.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3. Data Pipeline &amp; Spatial Graph Construction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NYC Open Data EMS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300,000 raw incidents</a:t>
            </a:r>
            <a:br/>
            <a:r>
              <a:t>274,964 clean calls</a:t>
            </a:r>
            <a:br/>
            <a:r>
              <a:t>Oct 23 - Dec 31, 2025</a:t>
            </a:r>
            <a:br/>
            <a:r>
              <a:t>Severity: 24.5% Crit, 52.8% Mod, 22.7% 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US Census ZCTA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229 ZIP Code Centroids</a:t>
            </a:r>
            <a:br/>
            <a:r>
              <a:t>Spatial demand proxies</a:t>
            </a:r>
            <a:br/>
            <a:r>
              <a:t>Latitude/Longitude</a:t>
            </a:r>
            <a:br/>
            <a:r>
              <a:t>NYC Borough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NYS Health Capacity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12 Major Regional Facilities</a:t>
            </a:r>
            <a:br/>
            <a:r>
              <a:t>Manhattan, Queens, Brooklyn, Bronx</a:t>
            </a:r>
            <a:br/>
            <a:r>
              <a:t>Real bed capacity figures</a:t>
            </a:r>
            <a:br/>
            <a:r>
              <a:t>Dynamic occupancy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OpenStreetMap Graph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Dijkstra Shortest Paths</a:t>
            </a:r>
            <a:br/>
            <a:r>
              <a:t>Haversine Circuity (1.35x)</a:t>
            </a:r>
            <a:br/>
            <a:r>
              <a:t>Average Speed: 28 km/h</a:t>
            </a:r>
            <a:br/>
            <a:r>
              <a:t>$229 \times 12$ Distance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4. Dynamic MDP Environment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700">
                <a:solidFill>
                  <a:srgbClr val="003366"/>
                </a:solidFill>
              </a:defRPr>
            </a:pPr>
            <a:r>
              <a:t>Observation State Vector (258 Dims)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1-Hot Spatial Zone (229 values): Identifies incident ZIP code location.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Patient Severity (1 value): 0.0 (Critical), 0.5 (Moderate), 1.0 (Low).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Cyclic Hour Encoding (2 values): sin(2πh/24) &amp; cos(2πh/24) for time of day.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Weekend &amp; Demand Intensity (2 values): Binary weekend flag &amp; normalized hourly demand call rate.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Hospital Occupancy Vector (12 values): Current fraction of beds occupied.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Free Capacity Vector (12 values): Remaining available bed fraction.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700">
                <a:solidFill>
                  <a:srgbClr val="003366"/>
                </a:solidFill>
              </a:defRPr>
            </a:pPr>
            <a:r>
              <a:t>Action Space &amp; Dynamic Patient Queues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Discrete Action Space: Select 1 of 12 candidate regional hospitals.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Severity-Dependent Stay Queues: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  - Critical (Severity 0): 5 to 14 steps stay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  - Moderate (Severity 1): 4 to 11 steps stay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  - Low (Severity 2): 2 to 8 steps stay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Dynamic Discharges: At each step, remaining stay timers decrement; expired timers trigger patient discharge and free bed 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5. Multi-Objective Reward Function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0E7490"/>
                </a:solidFill>
              </a:defRPr>
            </a:pPr>
            <a:r>
              <a:t>Reward Signal Formulation:</a:t>
            </a:r>
          </a:p>
          <a:p>
            <a:pPr>
              <a:spcBef>
                <a:spcPts val="600"/>
              </a:spcBef>
              <a:defRPr sz="1800" b="1">
                <a:solidFill>
                  <a:srgbClr val="003366"/>
                </a:solidFill>
              </a:defRPr>
            </a:pPr>
            <a:r>
              <a:t>Reward = -1.0 * (Travel Time / 10) - 4.0 * (Hospital Utilization)^2 + 5.0 [Success Bonus]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383280"/>
            <a:ext cx="3413455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500">
                <a:solidFill>
                  <a:srgbClr val="003366"/>
                </a:solidFill>
              </a:defRPr>
            </a:pPr>
            <a:r>
              <a:t>Travel Penalty (-1.0 * T/10)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Linearly penalizes longer transport times to ensure ambulances prioritize geographically efficient hospital choices.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3383280"/>
            <a:ext cx="3413455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500">
                <a:solidFill>
                  <a:srgbClr val="003366"/>
                </a:solidFill>
              </a:defRPr>
            </a:pPr>
            <a:r>
              <a:t>Occupancy Penalty (-4.0 * U^2)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Quadratically penalizes assigning patients to highly utilized facilities, encouraging load balancing across hospitals.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383280"/>
            <a:ext cx="3413455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500">
                <a:solidFill>
                  <a:srgbClr val="003366"/>
                </a:solidFill>
              </a:defRPr>
            </a:pPr>
            <a:r>
              <a:t>Safety &amp; Overload Penalties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Enforces a heavy -30.0 rejection penalty if a hospital is at 100% capacity, plus a -10.0 penalty for sending critical patients to EDs above 85% utilization.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6. Deep Q-Network (DQN) Training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DQN Hyperparameters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Policy Network: Multi-Layer Perceptron (MLP)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Hidden Layers: 2 Layers x 256 Units (ReLU)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Optimizer: Adam (Learning Rate = 1e-4)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Discount Factor (γ): 0.98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Replay Buffer Size: 50,000 transitions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Batch Size: 64 transitions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Target Network Update: Every 2,000 steps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Exploration (ε): 1.00 -&gt; 0.05 over 12.5k steps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Total Training Steps: 50,000 timesteps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Stabilization &amp; Training Dynamics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Experience Replay: Decorrelates consecutive EMS calls, sampling random batches of 64 transitions.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Target Q-Network: Periodically syncs parameters to prevent training feedback loops.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Epsilon Decay: Smooth transition from 100% random exploration to policy exploitation.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Stable-Baselines3 Implementation: Ensures reproducible reinforcement learning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7. Evaluated Benchmark Policies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400">
                <a:solidFill>
                  <a:srgbClr val="003366"/>
                </a:solidFill>
              </a:defRPr>
            </a:pPr>
            <a:r>
              <a:t>1. Nearest Hospital (Nearest)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Sends patient to geographically closest hospital with available beds. Minimizes driving time but risks emergency room crowding.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400">
                <a:solidFill>
                  <a:srgbClr val="003366"/>
                </a:solidFill>
              </a:defRPr>
            </a:pPr>
            <a:r>
              <a:t>2. Weighted Heuristic (Weighted)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Multi-attribute rule balancing distance &amp; occupancy. Weights distance higher (0.75) for critical calls and lowers it (0.55) for minor calls.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400">
                <a:solidFill>
                  <a:srgbClr val="003366"/>
                </a:solidFill>
              </a:defRPr>
            </a:pPr>
            <a:r>
              <a:t>3. Deep Q-Network (DQN)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Trained DRL policy that dynamically evaluates all 258 state features to make long-term capacity-aware hospital choices.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400">
                <a:solidFill>
                  <a:srgbClr val="003366"/>
                </a:solidFill>
              </a:defRPr>
            </a:pPr>
            <a:r>
              <a:t>4. Capacity-First (CapFirst)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Always routes to the hospital with the highest percentage of empty beds. Maximum load balancing, but ignores distance.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400">
                <a:solidFill>
                  <a:srgbClr val="003366"/>
                </a:solidFill>
              </a:defRPr>
            </a:pPr>
            <a:r>
              <a:t>5. Random Allocation (Random)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Uniform random choice among hospitals with open beds. Benchmark baseline for unstructured dispatching.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8. Experimental Results: Standard Operations</a:t>
            </a:r>
          </a:p>
        </p:txBody>
      </p:sp>
      <p:pic>
        <p:nvPicPr>
          <p:cNvPr id="3" name="Picture 2" descr="policy_comparison_mean_travel_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0" y="1463040"/>
            <a:ext cx="50593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Performance Under Normal Conditions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Nearest: Best mean travel time (12.14 min) and highest reward (3.76).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Weighted Heuristic: Nearly identical performance to Nearest (12.21 min, 3.76 reward).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DQN: Solid capacity management (17.04 min travel time, 3.27 reward) with 0.00% overload rate.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Capacity-First: Massive travel time penalty (38.05 min, 218% increase) due to ignoring distance.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Random: Poor performance (39.13 min travel time, 1.06 reward).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9. Results: Critical Case Performance</a:t>
            </a:r>
          </a:p>
        </p:txBody>
      </p:sp>
      <p:pic>
        <p:nvPicPr>
          <p:cNvPr id="3" name="Picture 2" descr="critical_cas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0" y="1463040"/>
            <a:ext cx="50593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High-Acuity Calls (Severity 0)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Subset Focus: 24.51% of total calls represent critical cardiac arrests / severe trauma.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Weighted Heuristic: Achieves highest reward (3.6869) and fast transport (12.25 min).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Nearest: Delivers critical patients in 12.23 minutes.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DQN Safety Mechanism: Maintains zero critical overloaded ED admissions, averaging 16.56 minutes travel time.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Conclusion: Proximity rules excel when capacities are open, while DQN acts as a safety buffer during surge.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10. Resource Equity &amp; Jain's Fairness Index</a:t>
            </a:r>
          </a:p>
        </p:txBody>
      </p:sp>
      <p:pic>
        <p:nvPicPr>
          <p:cNvPr id="3" name="Picture 2" descr="fairne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0" y="1463040"/>
            <a:ext cx="50593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Systemic Hospital Load Balancing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Capacity-First: Highest Jain's Index (0.8558) and lowest utilization variance (2.48e-6), but severely delays patients.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DQN Agent: Balanced fairness index (0.5852) with low variance (1.21e-5), distributing loads without sacrificing speed.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Weighted Heuristic: Achieves 0.5812 fairness index while keeping transport times fast.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Nearest: Lowest fairness index (0.5701) due to clustering patients into neighborhood facilities.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11. Robustness &amp; Extreme Stress Testing</a:t>
            </a:r>
          </a:p>
        </p:txBody>
      </p:sp>
      <p:pic>
        <p:nvPicPr>
          <p:cNvPr id="3" name="Picture 2" descr="stress_tes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0" y="1463040"/>
            <a:ext cx="50593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Stress Test Scenarios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Multi-Seed Verification: Tested across 5 random seeds (42, 7, 21, 99, 123) with stable metrics.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Critical Shortage (75-95% Occupancy): DQN maintains 13.59 min travel time &amp; 3.47 reward.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Demand Surge (1.75x Call Rate): DQN keeps performance stable at 13.58 min travel time.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High Congestion (55-85% Occupancy): DQN yields 3.55 reward and 13.57 min travel time.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Conclusion: DQN adapts effectively under severe system stress.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12. Practical Insights &amp;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500">
                <a:solidFill>
                  <a:srgbClr val="003366"/>
                </a:solidFill>
              </a:defRPr>
            </a:pPr>
            <a:r>
              <a:t>1. Proximity is Dominant Under Light Loads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When hospital beds are open, Nearest routing is optimal because transport time dominates total call duration.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500">
                <a:solidFill>
                  <a:srgbClr val="003366"/>
                </a:solidFill>
              </a:defRPr>
            </a:pPr>
            <a:r>
              <a:t>2. Pure Capacity Routing Fails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Capacity-First dispatching inflates travel time by over 200%, showing that load balancing cannot ignore road geography.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500">
                <a:solidFill>
                  <a:srgbClr val="003366"/>
                </a:solidFill>
              </a:defRPr>
            </a:pPr>
            <a:r>
              <a:t>3. DQN Provides Adaptive Resilience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Deep Q-Networks successfully balance travel speed and capacity, preventing overloads during severe bed shortages.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500">
                <a:solidFill>
                  <a:srgbClr val="003366"/>
                </a:solidFill>
              </a:defRPr>
            </a:pPr>
            <a:r>
              <a:t>4. Dispatcher Interpretability Matters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Rules like Weighted Heuristic provide transparent suggestions that human dispatchers can inspect and trust.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RL DYNAMIC EMERGENCY RESOURCE ALLOCATION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13. Conclusion &amp; Future Directions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Project Summary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Developed a realistic 258-dim Gymnasium MDP environment on 274,964 NYC EMS calls.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Demonstrated that static nearest routing performs best in uncongested settings (12.1 min).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Proved DQN's resilience in maintaining zero overloads during high congestion and bed shortages.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Highlighted the essential trade-off between driving speed and regional bed fairness.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Future Research Directions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Multi-Agent RL (MARL): Model individual ambulance units coordinating dispatch and dynamic fleet relocation.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Live Traffic Streams: Integrate real-time API traffic speed updates into the distance matrix.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Action Masking: Apply strict spatial proximity bounds directly to the Q-network action space.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/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200">
                <a:solidFill>
                  <a:srgbClr val="0E7490"/>
                </a:solidFill>
              </a:defRPr>
            </a:pPr>
            <a:r>
              <a:t>Questions &amp; Discussion</a:t>
            </a:r>
          </a:p>
          <a:p>
            <a:br/>
            <a:pPr algn="ctr">
              <a:spcBef>
                <a:spcPts val="2000"/>
              </a:spcBef>
              <a:defRPr sz="1400">
                <a:solidFill>
                  <a:srgbClr val="1E293B"/>
                </a:solidFill>
              </a:defRPr>
            </a:pPr>
            <a:r>
              <a:t>Parimisetty Sneha Deepika (AV.SC.U4AIE23034)</a:t>
            </a:r>
            <a:br/>
            <a:r>
              <a:t>Nakka Keerthi (AV.SC.U4AIE23032)</a:t>
            </a:r>
            <a:br/>
            <a:r>
              <a:t>Amrita Vishwa Vidyapeetham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